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TC Motter Corpus Semicondensed" charset="1" panose="04020A05040802020202"/>
      <p:regular r:id="rId15"/>
    </p:embeddedFont>
    <p:embeddedFont>
      <p:font typeface="Rubik" charset="1" panose="00000000000000000000"/>
      <p:regular r:id="rId16"/>
    </p:embeddedFont>
    <p:embeddedFont>
      <p:font typeface="Rubik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18" Target="../media/image26.png" Type="http://schemas.openxmlformats.org/officeDocument/2006/relationships/image"/><Relationship Id="rId19" Target="../media/image27.svg" Type="http://schemas.openxmlformats.org/officeDocument/2006/relationships/image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Relationship Id="rId7" Target="../media/image15.jpe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C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6587588"/>
            <a:chOff x="0" y="0"/>
            <a:chExt cx="2192553" cy="1735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553" cy="1735003"/>
            </a:xfrm>
            <a:custGeom>
              <a:avLst/>
              <a:gdLst/>
              <a:ahLst/>
              <a:cxnLst/>
              <a:rect r="r" b="b" t="t" l="l"/>
              <a:pathLst>
                <a:path h="1735003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97804"/>
                  </a:lnTo>
                  <a:cubicBezTo>
                    <a:pt x="2192553" y="1707669"/>
                    <a:pt x="2188634" y="1717131"/>
                    <a:pt x="2181658" y="1724107"/>
                  </a:cubicBezTo>
                  <a:cubicBezTo>
                    <a:pt x="2174682" y="1731083"/>
                    <a:pt x="2165220" y="1735003"/>
                    <a:pt x="2155354" y="1735003"/>
                  </a:cubicBezTo>
                  <a:lnTo>
                    <a:pt x="37199" y="1735003"/>
                  </a:lnTo>
                  <a:cubicBezTo>
                    <a:pt x="27333" y="1735003"/>
                    <a:pt x="17872" y="1731083"/>
                    <a:pt x="10895" y="1724107"/>
                  </a:cubicBezTo>
                  <a:cubicBezTo>
                    <a:pt x="3919" y="1717131"/>
                    <a:pt x="0" y="1707669"/>
                    <a:pt x="0" y="169780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EDC7B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92553" cy="1792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7559138"/>
            <a:ext cx="5448300" cy="2061112"/>
            <a:chOff x="0" y="0"/>
            <a:chExt cx="1434943" cy="5428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542844"/>
            </a:xfrm>
            <a:custGeom>
              <a:avLst/>
              <a:gdLst/>
              <a:ahLst/>
              <a:cxnLst/>
              <a:rect r="r" b="b" t="t" l="l"/>
              <a:pathLst>
                <a:path h="542844" w="1434943">
                  <a:moveTo>
                    <a:pt x="46892" y="0"/>
                  </a:moveTo>
                  <a:lnTo>
                    <a:pt x="1388051" y="0"/>
                  </a:lnTo>
                  <a:cubicBezTo>
                    <a:pt x="1400488" y="0"/>
                    <a:pt x="1412415" y="4940"/>
                    <a:pt x="1421209" y="13734"/>
                  </a:cubicBezTo>
                  <a:cubicBezTo>
                    <a:pt x="1430003" y="22528"/>
                    <a:pt x="1434943" y="34456"/>
                    <a:pt x="1434943" y="46892"/>
                  </a:cubicBezTo>
                  <a:lnTo>
                    <a:pt x="1434943" y="495952"/>
                  </a:lnTo>
                  <a:cubicBezTo>
                    <a:pt x="1434943" y="521850"/>
                    <a:pt x="1413949" y="542844"/>
                    <a:pt x="1388051" y="542844"/>
                  </a:cubicBezTo>
                  <a:lnTo>
                    <a:pt x="46892" y="542844"/>
                  </a:lnTo>
                  <a:cubicBezTo>
                    <a:pt x="34456" y="542844"/>
                    <a:pt x="22528" y="537904"/>
                    <a:pt x="13734" y="529110"/>
                  </a:cubicBezTo>
                  <a:cubicBezTo>
                    <a:pt x="4940" y="520316"/>
                    <a:pt x="0" y="508389"/>
                    <a:pt x="0" y="495952"/>
                  </a:cubicBezTo>
                  <a:lnTo>
                    <a:pt x="0" y="46892"/>
                  </a:lnTo>
                  <a:cubicBezTo>
                    <a:pt x="0" y="34456"/>
                    <a:pt x="4940" y="22528"/>
                    <a:pt x="13734" y="13734"/>
                  </a:cubicBezTo>
                  <a:cubicBezTo>
                    <a:pt x="22528" y="4940"/>
                    <a:pt x="34456" y="0"/>
                    <a:pt x="46892" y="0"/>
                  </a:cubicBezTo>
                  <a:close/>
                </a:path>
              </a:pathLst>
            </a:custGeom>
            <a:solidFill>
              <a:srgbClr val="EDC7B7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434943" cy="59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666750"/>
            <a:ext cx="8324850" cy="8953500"/>
            <a:chOff x="0" y="0"/>
            <a:chExt cx="1066627" cy="1147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6627" cy="1147174"/>
            </a:xfrm>
            <a:custGeom>
              <a:avLst/>
              <a:gdLst/>
              <a:ahLst/>
              <a:cxnLst/>
              <a:rect r="r" b="b" t="t" l="l"/>
              <a:pathLst>
                <a:path h="1147174" w="1066627">
                  <a:moveTo>
                    <a:pt x="65098" y="0"/>
                  </a:moveTo>
                  <a:lnTo>
                    <a:pt x="1001529" y="0"/>
                  </a:lnTo>
                  <a:cubicBezTo>
                    <a:pt x="1018794" y="0"/>
                    <a:pt x="1035352" y="6859"/>
                    <a:pt x="1047561" y="19067"/>
                  </a:cubicBezTo>
                  <a:cubicBezTo>
                    <a:pt x="1059769" y="31275"/>
                    <a:pt x="1066627" y="47833"/>
                    <a:pt x="1066627" y="65098"/>
                  </a:cubicBezTo>
                  <a:lnTo>
                    <a:pt x="1066627" y="1082075"/>
                  </a:lnTo>
                  <a:cubicBezTo>
                    <a:pt x="1066627" y="1099340"/>
                    <a:pt x="1059769" y="1115898"/>
                    <a:pt x="1047561" y="1128107"/>
                  </a:cubicBezTo>
                  <a:cubicBezTo>
                    <a:pt x="1035352" y="1140315"/>
                    <a:pt x="1018794" y="1147174"/>
                    <a:pt x="1001529" y="1147174"/>
                  </a:cubicBezTo>
                  <a:lnTo>
                    <a:pt x="65098" y="1147174"/>
                  </a:lnTo>
                  <a:cubicBezTo>
                    <a:pt x="47833" y="1147174"/>
                    <a:pt x="31275" y="1140315"/>
                    <a:pt x="19067" y="1128107"/>
                  </a:cubicBezTo>
                  <a:cubicBezTo>
                    <a:pt x="6859" y="1115898"/>
                    <a:pt x="0" y="1099340"/>
                    <a:pt x="0" y="1082075"/>
                  </a:cubicBezTo>
                  <a:lnTo>
                    <a:pt x="0" y="65098"/>
                  </a:lnTo>
                  <a:cubicBezTo>
                    <a:pt x="0" y="47833"/>
                    <a:pt x="6859" y="31275"/>
                    <a:pt x="19067" y="19067"/>
                  </a:cubicBezTo>
                  <a:cubicBezTo>
                    <a:pt x="31275" y="6859"/>
                    <a:pt x="47833" y="0"/>
                    <a:pt x="6509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419850" y="7559138"/>
            <a:ext cx="2571750" cy="2061112"/>
            <a:chOff x="0" y="0"/>
            <a:chExt cx="677333" cy="5428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7333" cy="542844"/>
            </a:xfrm>
            <a:custGeom>
              <a:avLst/>
              <a:gdLst/>
              <a:ahLst/>
              <a:cxnLst/>
              <a:rect r="r" b="b" t="t" l="l"/>
              <a:pathLst>
                <a:path h="542844" w="677333">
                  <a:moveTo>
                    <a:pt x="99342" y="0"/>
                  </a:moveTo>
                  <a:lnTo>
                    <a:pt x="577991" y="0"/>
                  </a:lnTo>
                  <a:cubicBezTo>
                    <a:pt x="604338" y="0"/>
                    <a:pt x="629606" y="10466"/>
                    <a:pt x="648237" y="29097"/>
                  </a:cubicBezTo>
                  <a:cubicBezTo>
                    <a:pt x="666867" y="47727"/>
                    <a:pt x="677333" y="72995"/>
                    <a:pt x="677333" y="99342"/>
                  </a:cubicBezTo>
                  <a:lnTo>
                    <a:pt x="677333" y="443502"/>
                  </a:lnTo>
                  <a:cubicBezTo>
                    <a:pt x="677333" y="498367"/>
                    <a:pt x="632856" y="542844"/>
                    <a:pt x="577991" y="542844"/>
                  </a:cubicBezTo>
                  <a:lnTo>
                    <a:pt x="99342" y="542844"/>
                  </a:lnTo>
                  <a:cubicBezTo>
                    <a:pt x="72995" y="542844"/>
                    <a:pt x="47727" y="532378"/>
                    <a:pt x="29097" y="513748"/>
                  </a:cubicBezTo>
                  <a:cubicBezTo>
                    <a:pt x="10466" y="495117"/>
                    <a:pt x="0" y="469849"/>
                    <a:pt x="0" y="443502"/>
                  </a:cubicBezTo>
                  <a:lnTo>
                    <a:pt x="0" y="99342"/>
                  </a:lnTo>
                  <a:cubicBezTo>
                    <a:pt x="0" y="72995"/>
                    <a:pt x="10466" y="47727"/>
                    <a:pt x="29097" y="29097"/>
                  </a:cubicBezTo>
                  <a:cubicBezTo>
                    <a:pt x="47727" y="10466"/>
                    <a:pt x="72995" y="0"/>
                    <a:pt x="99342" y="0"/>
                  </a:cubicBezTo>
                  <a:close/>
                </a:path>
              </a:pathLst>
            </a:custGeom>
            <a:solidFill>
              <a:srgbClr val="2A8F91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77333" cy="59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7248914" y="8142019"/>
            <a:ext cx="913622" cy="895350"/>
            <a:chOff x="0" y="0"/>
            <a:chExt cx="635000" cy="622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0D3B6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45747" y="1187741"/>
            <a:ext cx="6916790" cy="353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>
                <a:solidFill>
                  <a:srgbClr val="0D3B66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Cloud Log Monitoring 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3215" y="7724824"/>
            <a:ext cx="4676281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0D3B66"/>
                </a:solidFill>
                <a:latin typeface="Rubik"/>
                <a:ea typeface="Rubik"/>
                <a:cs typeface="Rubik"/>
                <a:sym typeface="Rubik"/>
              </a:rPr>
              <a:t>By, 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0D3B66"/>
                </a:solidFill>
                <a:latin typeface="Rubik"/>
                <a:ea typeface="Rubik"/>
                <a:cs typeface="Rubik"/>
                <a:sym typeface="Rubik"/>
              </a:rPr>
              <a:t>Shreya Kumari (fd6317)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0D3B66"/>
                </a:solidFill>
                <a:latin typeface="Rubik"/>
                <a:ea typeface="Rubik"/>
                <a:cs typeface="Rubik"/>
                <a:sym typeface="Rubik"/>
              </a:rPr>
              <a:t>Richa Sapre(ee9498), 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399">
                <a:solidFill>
                  <a:srgbClr val="0D3B66"/>
                </a:solidFill>
                <a:latin typeface="Rubik"/>
                <a:ea typeface="Rubik"/>
                <a:cs typeface="Rubik"/>
                <a:sym typeface="Rubik"/>
              </a:rPr>
              <a:t>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5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0A2C4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F1EB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767063" y="3510984"/>
            <a:ext cx="11159752" cy="361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6"/>
              </a:lnSpc>
            </a:pPr>
            <a:r>
              <a:rPr lang="en-US" sz="5197">
                <a:solidFill>
                  <a:srgbClr val="0D3B66"/>
                </a:solidFill>
                <a:latin typeface="Rubik"/>
                <a:ea typeface="Rubik"/>
                <a:cs typeface="Rubik"/>
                <a:sym typeface="Rubik"/>
              </a:rPr>
              <a:t>Real-time log collection</a:t>
            </a:r>
          </a:p>
          <a:p>
            <a:pPr algn="l">
              <a:lnSpc>
                <a:spcPts val="7276"/>
              </a:lnSpc>
            </a:pPr>
            <a:r>
              <a:rPr lang="en-US" sz="5197">
                <a:solidFill>
                  <a:srgbClr val="0D3B66"/>
                </a:solidFill>
                <a:latin typeface="Rubik"/>
                <a:ea typeface="Rubik"/>
                <a:cs typeface="Rubik"/>
                <a:sym typeface="Rubik"/>
              </a:rPr>
              <a:t>Secure storage &amp; analysis</a:t>
            </a:r>
          </a:p>
          <a:p>
            <a:pPr algn="l">
              <a:lnSpc>
                <a:spcPts val="7276"/>
              </a:lnSpc>
            </a:pPr>
            <a:r>
              <a:rPr lang="en-US" sz="5197">
                <a:solidFill>
                  <a:srgbClr val="0D3B66"/>
                </a:solidFill>
                <a:latin typeface="Rubik"/>
                <a:ea typeface="Rubik"/>
                <a:cs typeface="Rubik"/>
                <a:sym typeface="Rubik"/>
              </a:rPr>
              <a:t>Alerts for faster issue resolution</a:t>
            </a:r>
          </a:p>
          <a:p>
            <a:pPr algn="l">
              <a:lnSpc>
                <a:spcPts val="7276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-10800000">
            <a:off x="2105025" y="7829550"/>
            <a:ext cx="913622" cy="895350"/>
            <a:chOff x="0" y="0"/>
            <a:chExt cx="635000" cy="622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0D3B6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105025" y="3775294"/>
            <a:ext cx="555400" cy="585401"/>
          </a:xfrm>
          <a:custGeom>
            <a:avLst/>
            <a:gdLst/>
            <a:ahLst/>
            <a:cxnLst/>
            <a:rect r="r" b="b" t="t" l="l"/>
            <a:pathLst>
              <a:path h="585401" w="555400">
                <a:moveTo>
                  <a:pt x="0" y="0"/>
                </a:moveTo>
                <a:lnTo>
                  <a:pt x="555400" y="0"/>
                </a:lnTo>
                <a:lnTo>
                  <a:pt x="555400" y="585402"/>
                </a:lnTo>
                <a:lnTo>
                  <a:pt x="0" y="585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05025" y="1108293"/>
            <a:ext cx="11821790" cy="266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MOD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E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RN 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A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PP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L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ICA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TI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ONS GENERATE 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M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ASSIV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E </a:t>
            </a:r>
            <a:r>
              <a:rPr lang="en-US" b="true" sz="5099" strike="noStrike" u="none">
                <a:solidFill>
                  <a:srgbClr val="0D3B66"/>
                </a:solidFill>
                <a:latin typeface="Rubik Bold"/>
                <a:ea typeface="Rubik Bold"/>
                <a:cs typeface="Rubik Bold"/>
                <a:sym typeface="Rubik Bold"/>
              </a:rPr>
              <a:t>LOG VOLUMES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B2002A"/>
                </a:solidFill>
                <a:latin typeface="Rubik Bold"/>
                <a:ea typeface="Rubik Bold"/>
                <a:cs typeface="Rubik Bold"/>
                <a:sym typeface="Rubik Bold"/>
              </a:rPr>
              <a:t>M</a:t>
            </a:r>
            <a:r>
              <a:rPr lang="en-US" b="true" sz="2400" strike="noStrike" u="none">
                <a:solidFill>
                  <a:srgbClr val="B2002A"/>
                </a:solidFill>
                <a:latin typeface="Rubik Bold"/>
                <a:ea typeface="Rubik Bold"/>
                <a:cs typeface="Rubik Bold"/>
                <a:sym typeface="Rubik Bold"/>
              </a:rPr>
              <a:t>ANUAL LOG COLLECTI</a:t>
            </a:r>
            <a:r>
              <a:rPr lang="en-US" b="true" sz="2400" strike="noStrike" u="none">
                <a:solidFill>
                  <a:srgbClr val="B2002A"/>
                </a:solidFill>
                <a:latin typeface="Rubik Bold"/>
                <a:ea typeface="Rubik Bold"/>
                <a:cs typeface="Rubik Bold"/>
                <a:sym typeface="Rubik Bold"/>
              </a:rPr>
              <a:t>ON</a:t>
            </a:r>
            <a:r>
              <a:rPr lang="en-US" b="true" sz="2400" strike="noStrike" u="none">
                <a:solidFill>
                  <a:srgbClr val="B2002A"/>
                </a:solidFill>
                <a:latin typeface="Rubik Bold"/>
                <a:ea typeface="Rubik Bold"/>
                <a:cs typeface="Rubik Bold"/>
                <a:sym typeface="Rubik Bold"/>
              </a:rPr>
              <a:t> IS </a:t>
            </a:r>
            <a:r>
              <a:rPr lang="en-US" b="true" sz="2400" strike="noStrike" u="none">
                <a:solidFill>
                  <a:srgbClr val="B2002A"/>
                </a:solidFill>
                <a:latin typeface="Rubik Bold"/>
                <a:ea typeface="Rubik Bold"/>
                <a:cs typeface="Rubik Bold"/>
                <a:sym typeface="Rubik Bold"/>
              </a:rPr>
              <a:t>I</a:t>
            </a:r>
            <a:r>
              <a:rPr lang="en-US" b="true" sz="2400" strike="noStrike" u="none">
                <a:solidFill>
                  <a:srgbClr val="B2002A"/>
                </a:solidFill>
                <a:latin typeface="Rubik Bold"/>
                <a:ea typeface="Rubik Bold"/>
                <a:cs typeface="Rubik Bold"/>
                <a:sym typeface="Rubik Bold"/>
              </a:rPr>
              <a:t>NEFFICIEN</a:t>
            </a:r>
            <a:r>
              <a:rPr lang="en-US" b="true" sz="2400" strike="noStrike" u="none">
                <a:solidFill>
                  <a:srgbClr val="B2002A"/>
                </a:solidFill>
                <a:latin typeface="Rubik Bold"/>
                <a:ea typeface="Rubik Bold"/>
                <a:cs typeface="Rubik Bold"/>
                <a:sym typeface="Rubik Bold"/>
              </a:rPr>
              <a:t>T</a:t>
            </a:r>
            <a:r>
              <a:rPr lang="en-US" b="true" sz="2400" strike="noStrike" u="none">
                <a:solidFill>
                  <a:srgbClr val="B2002A"/>
                </a:solidFill>
                <a:latin typeface="Rubik Bold"/>
                <a:ea typeface="Rubik Bold"/>
                <a:cs typeface="Rubik Bold"/>
                <a:sym typeface="Rubik Bold"/>
              </a:rPr>
              <a:t> AND ERR</a:t>
            </a:r>
            <a:r>
              <a:rPr lang="en-US" b="true" sz="2400" strike="noStrike" u="none">
                <a:solidFill>
                  <a:srgbClr val="B2002A"/>
                </a:solidFill>
                <a:latin typeface="Rubik Bold"/>
                <a:ea typeface="Rubik Bold"/>
                <a:cs typeface="Rubik Bold"/>
                <a:sym typeface="Rubik Bold"/>
              </a:rPr>
              <a:t>OR</a:t>
            </a:r>
            <a:r>
              <a:rPr lang="en-US" b="true" sz="2400" strike="noStrike" u="none">
                <a:solidFill>
                  <a:srgbClr val="B2002A"/>
                </a:solidFill>
                <a:latin typeface="Rubik Bold"/>
                <a:ea typeface="Rubik Bold"/>
                <a:cs typeface="Rubik Bold"/>
                <a:sym typeface="Rubik Bold"/>
              </a:rPr>
              <a:t>-PRO</a:t>
            </a:r>
            <a:r>
              <a:rPr lang="en-US" b="true" sz="2400" strike="noStrike" u="none">
                <a:solidFill>
                  <a:srgbClr val="B2002A"/>
                </a:solidFill>
                <a:latin typeface="Rubik Bold"/>
                <a:ea typeface="Rubik Bold"/>
                <a:cs typeface="Rubik Bold"/>
                <a:sym typeface="Rubik Bold"/>
              </a:rPr>
              <a:t>NE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105025" y="4642508"/>
            <a:ext cx="555400" cy="585401"/>
          </a:xfrm>
          <a:custGeom>
            <a:avLst/>
            <a:gdLst/>
            <a:ahLst/>
            <a:cxnLst/>
            <a:rect r="r" b="b" t="t" l="l"/>
            <a:pathLst>
              <a:path h="585401" w="555400">
                <a:moveTo>
                  <a:pt x="0" y="0"/>
                </a:moveTo>
                <a:lnTo>
                  <a:pt x="555400" y="0"/>
                </a:lnTo>
                <a:lnTo>
                  <a:pt x="555400" y="585401"/>
                </a:lnTo>
                <a:lnTo>
                  <a:pt x="0" y="585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05025" y="5509721"/>
            <a:ext cx="555400" cy="585401"/>
          </a:xfrm>
          <a:custGeom>
            <a:avLst/>
            <a:gdLst/>
            <a:ahLst/>
            <a:cxnLst/>
            <a:rect r="r" b="b" t="t" l="l"/>
            <a:pathLst>
              <a:path h="585401" w="555400">
                <a:moveTo>
                  <a:pt x="0" y="0"/>
                </a:moveTo>
                <a:lnTo>
                  <a:pt x="555400" y="0"/>
                </a:lnTo>
                <a:lnTo>
                  <a:pt x="555400" y="585402"/>
                </a:lnTo>
                <a:lnTo>
                  <a:pt x="0" y="585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C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6707628" y="666750"/>
            <a:ext cx="913622" cy="895350"/>
            <a:chOff x="0" y="0"/>
            <a:chExt cx="635000" cy="622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EDC7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6750" y="1777823"/>
            <a:ext cx="15350101" cy="8142578"/>
          </a:xfrm>
          <a:custGeom>
            <a:avLst/>
            <a:gdLst/>
            <a:ahLst/>
            <a:cxnLst/>
            <a:rect r="r" b="b" t="t" l="l"/>
            <a:pathLst>
              <a:path h="8142578" w="15350101">
                <a:moveTo>
                  <a:pt x="0" y="0"/>
                </a:moveTo>
                <a:lnTo>
                  <a:pt x="15350101" y="0"/>
                </a:lnTo>
                <a:lnTo>
                  <a:pt x="15350101" y="8142578"/>
                </a:lnTo>
                <a:lnTo>
                  <a:pt x="0" y="814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85" t="-7095" r="-2855" b="-513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532002" y="8369932"/>
            <a:ext cx="809798" cy="151430"/>
            <a:chOff x="0" y="0"/>
            <a:chExt cx="213280" cy="398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280" cy="39883"/>
            </a:xfrm>
            <a:custGeom>
              <a:avLst/>
              <a:gdLst/>
              <a:ahLst/>
              <a:cxnLst/>
              <a:rect r="r" b="b" t="t" l="l"/>
              <a:pathLst>
                <a:path h="39883" w="213280">
                  <a:moveTo>
                    <a:pt x="0" y="0"/>
                  </a:moveTo>
                  <a:lnTo>
                    <a:pt x="213280" y="0"/>
                  </a:lnTo>
                  <a:lnTo>
                    <a:pt x="213280" y="39883"/>
                  </a:lnTo>
                  <a:lnTo>
                    <a:pt x="0" y="39883"/>
                  </a:lnTo>
                  <a:close/>
                </a:path>
              </a:pathLst>
            </a:custGeom>
            <a:solidFill>
              <a:srgbClr val="F2F3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13280" cy="97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750" y="533400"/>
            <a:ext cx="1551622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 strike="noStrike" u="none">
                <a:solidFill>
                  <a:srgbClr val="FFF1EB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Cloud Architecture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C5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70383"/>
            <a:ext cx="9530846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6600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Solution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34294"/>
            <a:ext cx="15263182" cy="523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1045" indent="-535522" lvl="1">
              <a:lnSpc>
                <a:spcPts val="6945"/>
              </a:lnSpc>
              <a:buFont typeface="Arial"/>
              <a:buChar char="•"/>
            </a:pPr>
            <a:r>
              <a:rPr lang="en-US" b="true" sz="496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A fully s</a:t>
            </a:r>
            <a:r>
              <a:rPr lang="en-US" b="true" sz="496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erverless, event-driven Cloud Log Monitoring System</a:t>
            </a:r>
          </a:p>
          <a:p>
            <a:pPr algn="l" marL="1071045" indent="-535522" lvl="1">
              <a:lnSpc>
                <a:spcPts val="6945"/>
              </a:lnSpc>
              <a:buFont typeface="Arial"/>
              <a:buChar char="•"/>
            </a:pPr>
            <a:r>
              <a:rPr lang="en-US" b="true" sz="496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Built on Google Cloud Platform (GCP)</a:t>
            </a:r>
          </a:p>
          <a:p>
            <a:pPr algn="l" marL="1071045" indent="-535522" lvl="1">
              <a:lnSpc>
                <a:spcPts val="6945"/>
              </a:lnSpc>
              <a:buFont typeface="Arial"/>
              <a:buChar char="•"/>
            </a:pPr>
            <a:r>
              <a:rPr lang="en-US" b="true" sz="496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Collects, processes, stores, and visualizes logs in real time</a:t>
            </a:r>
          </a:p>
          <a:p>
            <a:pPr algn="l" marL="1071045" indent="-535522" lvl="1">
              <a:lnSpc>
                <a:spcPts val="6945"/>
              </a:lnSpc>
              <a:buFont typeface="Arial"/>
              <a:buChar char="•"/>
            </a:pPr>
            <a:r>
              <a:rPr lang="en-US" b="true" sz="496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Includes automated alerting for critical logs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C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781800" cy="10287000"/>
            <a:chOff x="0" y="0"/>
            <a:chExt cx="178615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61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6153">
                  <a:moveTo>
                    <a:pt x="0" y="0"/>
                  </a:moveTo>
                  <a:lnTo>
                    <a:pt x="1786153" y="0"/>
                  </a:lnTo>
                  <a:lnTo>
                    <a:pt x="17861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DC7B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8615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34900" y="666750"/>
            <a:ext cx="5448300" cy="8953500"/>
            <a:chOff x="0" y="0"/>
            <a:chExt cx="1406084" cy="2310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6084" cy="2310698"/>
            </a:xfrm>
            <a:custGeom>
              <a:avLst/>
              <a:gdLst/>
              <a:ahLst/>
              <a:cxnLst/>
              <a:rect r="r" b="b" t="t" l="l"/>
              <a:pathLst>
                <a:path h="2310698" w="1406084">
                  <a:moveTo>
                    <a:pt x="974733" y="348724"/>
                  </a:moveTo>
                  <a:lnTo>
                    <a:pt x="974733" y="310035"/>
                  </a:lnTo>
                  <a:cubicBezTo>
                    <a:pt x="974733" y="286046"/>
                    <a:pt x="965203" y="263040"/>
                    <a:pt x="948241" y="246078"/>
                  </a:cubicBezTo>
                  <a:cubicBezTo>
                    <a:pt x="931278" y="229116"/>
                    <a:pt x="908272" y="219586"/>
                    <a:pt x="884283" y="219587"/>
                  </a:cubicBezTo>
                  <a:lnTo>
                    <a:pt x="660890" y="219587"/>
                  </a:lnTo>
                  <a:cubicBezTo>
                    <a:pt x="610936" y="219587"/>
                    <a:pt x="570441" y="179091"/>
                    <a:pt x="570441" y="129137"/>
                  </a:cubicBezTo>
                  <a:lnTo>
                    <a:pt x="570441" y="90448"/>
                  </a:lnTo>
                  <a:cubicBezTo>
                    <a:pt x="570441" y="66459"/>
                    <a:pt x="560911" y="43453"/>
                    <a:pt x="543948" y="26490"/>
                  </a:cubicBezTo>
                  <a:cubicBezTo>
                    <a:pt x="526985" y="9528"/>
                    <a:pt x="503978" y="-1"/>
                    <a:pt x="479989" y="0"/>
                  </a:cubicBezTo>
                  <a:lnTo>
                    <a:pt x="90448" y="0"/>
                  </a:lnTo>
                  <a:cubicBezTo>
                    <a:pt x="40495" y="0"/>
                    <a:pt x="0" y="40495"/>
                    <a:pt x="0" y="90448"/>
                  </a:cubicBezTo>
                  <a:lnTo>
                    <a:pt x="0" y="2220250"/>
                  </a:lnTo>
                  <a:cubicBezTo>
                    <a:pt x="0" y="2270203"/>
                    <a:pt x="40495" y="2310698"/>
                    <a:pt x="90448" y="2310698"/>
                  </a:cubicBezTo>
                  <a:lnTo>
                    <a:pt x="1315636" y="2310698"/>
                  </a:lnTo>
                  <a:cubicBezTo>
                    <a:pt x="1365589" y="2310698"/>
                    <a:pt x="1406084" y="2270203"/>
                    <a:pt x="1406084" y="2220250"/>
                  </a:cubicBezTo>
                  <a:lnTo>
                    <a:pt x="1406084" y="529620"/>
                  </a:lnTo>
                  <a:cubicBezTo>
                    <a:pt x="1406084" y="479667"/>
                    <a:pt x="1365589" y="439172"/>
                    <a:pt x="1315636" y="439172"/>
                  </a:cubicBezTo>
                  <a:lnTo>
                    <a:pt x="1065181" y="439172"/>
                  </a:lnTo>
                  <a:cubicBezTo>
                    <a:pt x="1015228" y="439172"/>
                    <a:pt x="974733" y="398677"/>
                    <a:pt x="974733" y="348724"/>
                  </a:cubicBezTo>
                  <a:close/>
                </a:path>
              </a:pathLst>
            </a:custGeom>
            <a:blipFill>
              <a:blip r:embed="rId2"/>
              <a:stretch>
                <a:fillRect l="0" t="-290" r="0" b="-29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962342" y="666750"/>
            <a:ext cx="1371371" cy="653784"/>
            <a:chOff x="0" y="0"/>
            <a:chExt cx="361184" cy="1721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184" cy="172190"/>
            </a:xfrm>
            <a:custGeom>
              <a:avLst/>
              <a:gdLst/>
              <a:ahLst/>
              <a:cxnLst/>
              <a:rect r="r" b="b" t="t" l="l"/>
              <a:pathLst>
                <a:path h="172190" w="361184">
                  <a:moveTo>
                    <a:pt x="86095" y="0"/>
                  </a:moveTo>
                  <a:lnTo>
                    <a:pt x="275089" y="0"/>
                  </a:lnTo>
                  <a:cubicBezTo>
                    <a:pt x="322638" y="0"/>
                    <a:pt x="361184" y="38546"/>
                    <a:pt x="361184" y="86095"/>
                  </a:cubicBezTo>
                  <a:lnTo>
                    <a:pt x="361184" y="86095"/>
                  </a:lnTo>
                  <a:cubicBezTo>
                    <a:pt x="361184" y="108929"/>
                    <a:pt x="352113" y="130828"/>
                    <a:pt x="335967" y="146973"/>
                  </a:cubicBezTo>
                  <a:cubicBezTo>
                    <a:pt x="319821" y="163119"/>
                    <a:pt x="297923" y="172190"/>
                    <a:pt x="275089" y="172190"/>
                  </a:cubicBezTo>
                  <a:lnTo>
                    <a:pt x="86095" y="172190"/>
                  </a:lnTo>
                  <a:cubicBezTo>
                    <a:pt x="38546" y="172190"/>
                    <a:pt x="0" y="133644"/>
                    <a:pt x="0" y="86095"/>
                  </a:cubicBezTo>
                  <a:lnTo>
                    <a:pt x="0" y="86095"/>
                  </a:lnTo>
                  <a:cubicBezTo>
                    <a:pt x="0" y="38546"/>
                    <a:pt x="38546" y="0"/>
                    <a:pt x="86095" y="0"/>
                  </a:cubicBezTo>
                  <a:close/>
                </a:path>
              </a:pathLst>
            </a:custGeom>
            <a:solidFill>
              <a:srgbClr val="0D3B66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61184" cy="229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44925" y="666750"/>
            <a:ext cx="1438275" cy="1487929"/>
            <a:chOff x="0" y="0"/>
            <a:chExt cx="378805" cy="3918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8805" cy="391882"/>
            </a:xfrm>
            <a:custGeom>
              <a:avLst/>
              <a:gdLst/>
              <a:ahLst/>
              <a:cxnLst/>
              <a:rect r="r" b="b" t="t" l="l"/>
              <a:pathLst>
                <a:path h="391882" w="378805">
                  <a:moveTo>
                    <a:pt x="123804" y="0"/>
                  </a:moveTo>
                  <a:lnTo>
                    <a:pt x="255001" y="0"/>
                  </a:lnTo>
                  <a:cubicBezTo>
                    <a:pt x="323376" y="0"/>
                    <a:pt x="378805" y="55429"/>
                    <a:pt x="378805" y="123804"/>
                  </a:cubicBezTo>
                  <a:lnTo>
                    <a:pt x="378805" y="268078"/>
                  </a:lnTo>
                  <a:cubicBezTo>
                    <a:pt x="378805" y="336453"/>
                    <a:pt x="323376" y="391882"/>
                    <a:pt x="255001" y="391882"/>
                  </a:cubicBezTo>
                  <a:lnTo>
                    <a:pt x="123804" y="391882"/>
                  </a:lnTo>
                  <a:cubicBezTo>
                    <a:pt x="90969" y="391882"/>
                    <a:pt x="59479" y="378839"/>
                    <a:pt x="36261" y="355621"/>
                  </a:cubicBezTo>
                  <a:cubicBezTo>
                    <a:pt x="13044" y="332403"/>
                    <a:pt x="0" y="300913"/>
                    <a:pt x="0" y="268078"/>
                  </a:cubicBezTo>
                  <a:lnTo>
                    <a:pt x="0" y="123804"/>
                  </a:lnTo>
                  <a:cubicBezTo>
                    <a:pt x="0" y="90969"/>
                    <a:pt x="13044" y="59479"/>
                    <a:pt x="36261" y="36261"/>
                  </a:cubicBezTo>
                  <a:cubicBezTo>
                    <a:pt x="59479" y="13044"/>
                    <a:pt x="90969" y="0"/>
                    <a:pt x="123804" y="0"/>
                  </a:cubicBezTo>
                  <a:close/>
                </a:path>
              </a:pathLst>
            </a:custGeom>
            <a:solidFill>
              <a:srgbClr val="5F4B8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78805" cy="44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16896960" y="993642"/>
            <a:ext cx="734205" cy="719521"/>
            <a:chOff x="0" y="0"/>
            <a:chExt cx="635000" cy="622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EDC7B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33752" y="3280973"/>
            <a:ext cx="9643723" cy="0"/>
          </a:xfrm>
          <a:prstGeom prst="line">
            <a:avLst/>
          </a:prstGeom>
          <a:ln cap="flat" w="19050">
            <a:solidFill>
              <a:srgbClr val="EDC7B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446120" y="3093341"/>
            <a:ext cx="375264" cy="37526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7B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37856" y="3093341"/>
            <a:ext cx="375264" cy="37526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7B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09931" y="3093341"/>
            <a:ext cx="375264" cy="37526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7B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482007" y="3093341"/>
            <a:ext cx="375264" cy="37526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7B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4412070" y="5677289"/>
            <a:ext cx="5865405" cy="9525"/>
          </a:xfrm>
          <a:prstGeom prst="line">
            <a:avLst/>
          </a:prstGeom>
          <a:ln cap="flat" w="19050">
            <a:solidFill>
              <a:srgbClr val="EDC7B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6194745" y="5518232"/>
            <a:ext cx="375264" cy="37526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7B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66821" y="5518232"/>
            <a:ext cx="375264" cy="37526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7B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5400000">
            <a:off x="9716343" y="3832580"/>
            <a:ext cx="2424891" cy="1302627"/>
          </a:xfrm>
          <a:custGeom>
            <a:avLst/>
            <a:gdLst/>
            <a:ahLst/>
            <a:cxnLst/>
            <a:rect r="r" b="b" t="t" l="l"/>
            <a:pathLst>
              <a:path h="1302627" w="2424891">
                <a:moveTo>
                  <a:pt x="0" y="0"/>
                </a:moveTo>
                <a:lnTo>
                  <a:pt x="2424891" y="0"/>
                </a:lnTo>
                <a:lnTo>
                  <a:pt x="2424891" y="1302627"/>
                </a:lnTo>
                <a:lnTo>
                  <a:pt x="0" y="13026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035990" y="6118921"/>
            <a:ext cx="252528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F</a:t>
            </a: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irestore Database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5400000">
            <a:off x="9348832" y="6238420"/>
            <a:ext cx="2424891" cy="1302627"/>
          </a:xfrm>
          <a:custGeom>
            <a:avLst/>
            <a:gdLst/>
            <a:ahLst/>
            <a:cxnLst/>
            <a:rect r="r" b="b" t="t" l="l"/>
            <a:pathLst>
              <a:path h="1302627" w="2424891">
                <a:moveTo>
                  <a:pt x="0" y="0"/>
                </a:moveTo>
                <a:lnTo>
                  <a:pt x="2424891" y="0"/>
                </a:lnTo>
                <a:lnTo>
                  <a:pt x="2424891" y="1302628"/>
                </a:lnTo>
                <a:lnTo>
                  <a:pt x="0" y="1302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9722332" y="7914547"/>
            <a:ext cx="375264" cy="37526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7B7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true" flipV="true" rot="5400000">
            <a:off x="2557836" y="6228895"/>
            <a:ext cx="2424891" cy="1302627"/>
          </a:xfrm>
          <a:custGeom>
            <a:avLst/>
            <a:gdLst/>
            <a:ahLst/>
            <a:cxnLst/>
            <a:rect r="r" b="b" t="t" l="l"/>
            <a:pathLst>
              <a:path h="1302627" w="2424891">
                <a:moveTo>
                  <a:pt x="2424891" y="1302628"/>
                </a:moveTo>
                <a:lnTo>
                  <a:pt x="0" y="1302628"/>
                </a:lnTo>
                <a:lnTo>
                  <a:pt x="0" y="0"/>
                </a:lnTo>
                <a:lnTo>
                  <a:pt x="2424891" y="0"/>
                </a:lnTo>
                <a:lnTo>
                  <a:pt x="2424891" y="13026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true" flipV="true" rot="1670118">
            <a:off x="2901698" y="6799547"/>
            <a:ext cx="2424891" cy="1302627"/>
          </a:xfrm>
          <a:custGeom>
            <a:avLst/>
            <a:gdLst/>
            <a:ahLst/>
            <a:cxnLst/>
            <a:rect r="r" b="b" t="t" l="l"/>
            <a:pathLst>
              <a:path h="1302627" w="2424891">
                <a:moveTo>
                  <a:pt x="2424890" y="1302627"/>
                </a:moveTo>
                <a:lnTo>
                  <a:pt x="0" y="1302627"/>
                </a:lnTo>
                <a:lnTo>
                  <a:pt x="0" y="0"/>
                </a:lnTo>
                <a:lnTo>
                  <a:pt x="2424890" y="0"/>
                </a:lnTo>
                <a:lnTo>
                  <a:pt x="2424890" y="130262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-3327512">
            <a:off x="5335055" y="7299062"/>
            <a:ext cx="213636" cy="379798"/>
          </a:xfrm>
          <a:custGeom>
            <a:avLst/>
            <a:gdLst/>
            <a:ahLst/>
            <a:cxnLst/>
            <a:rect r="r" b="b" t="t" l="l"/>
            <a:pathLst>
              <a:path h="379798" w="213636">
                <a:moveTo>
                  <a:pt x="0" y="0"/>
                </a:moveTo>
                <a:lnTo>
                  <a:pt x="213636" y="0"/>
                </a:lnTo>
                <a:lnTo>
                  <a:pt x="213636" y="379798"/>
                </a:lnTo>
                <a:lnTo>
                  <a:pt x="0" y="3797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666750" y="666750"/>
            <a:ext cx="9763125" cy="1405890"/>
            <a:chOff x="0" y="0"/>
            <a:chExt cx="13017500" cy="1874520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-133350"/>
              <a:ext cx="13017500" cy="1466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20"/>
                </a:lnSpc>
              </a:pPr>
              <a:r>
                <a:rPr lang="en-US" sz="6600">
                  <a:solidFill>
                    <a:srgbClr val="EDC7B7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Sys</a:t>
              </a:r>
              <a:r>
                <a:rPr lang="en-US" sz="6600">
                  <a:solidFill>
                    <a:srgbClr val="EDC7B7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tem Architecture 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1339850"/>
              <a:ext cx="130175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EDC7B7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Steps illustrating the architecture of the system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446120" y="3942669"/>
            <a:ext cx="1995776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Client Applications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537548" y="3942669"/>
            <a:ext cx="19957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C</a:t>
            </a: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loud Run API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409624" y="3942669"/>
            <a:ext cx="19957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Pub/Su</a:t>
            </a: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b Topic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281699" y="3942669"/>
            <a:ext cx="19957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Cloud Funct</a:t>
            </a: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318445" y="6118921"/>
            <a:ext cx="19957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Web Dashb</a:t>
            </a: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oard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002889" y="8330779"/>
            <a:ext cx="239291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Gmail SM</a:t>
            </a:r>
            <a:r>
              <a:rPr lang="en-US" b="true" sz="200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TP Alerts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28700" y="2734566"/>
            <a:ext cx="120299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EDC7B7"/>
                </a:solidFill>
                <a:latin typeface="Rubik"/>
                <a:ea typeface="Rubik"/>
                <a:cs typeface="Rubik"/>
                <a:sym typeface="Rubik"/>
              </a:rPr>
              <a:t>Collection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697934" y="2734566"/>
            <a:ext cx="162051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EDC7B7"/>
                </a:solidFill>
                <a:latin typeface="Rubik"/>
                <a:ea typeface="Rubik"/>
                <a:cs typeface="Rubik"/>
                <a:sym typeface="Rubik"/>
              </a:rPr>
              <a:t>Str</a:t>
            </a:r>
            <a:r>
              <a:rPr lang="en-US" sz="2000">
                <a:solidFill>
                  <a:srgbClr val="EDC7B7"/>
                </a:solidFill>
                <a:latin typeface="Rubik"/>
                <a:ea typeface="Rubik"/>
                <a:cs typeface="Rubik"/>
                <a:sym typeface="Rubik"/>
              </a:rPr>
              <a:t>eaming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382378" y="2734566"/>
            <a:ext cx="162051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EDC7B7"/>
                </a:solidFill>
                <a:latin typeface="Rubik"/>
                <a:ea typeface="Rubik"/>
                <a:cs typeface="Rubik"/>
                <a:sym typeface="Rubik"/>
              </a:rPr>
              <a:t>Processing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-10800000">
            <a:off x="7789253" y="5496915"/>
            <a:ext cx="213636" cy="379798"/>
          </a:xfrm>
          <a:custGeom>
            <a:avLst/>
            <a:gdLst/>
            <a:ahLst/>
            <a:cxnLst/>
            <a:rect r="r" b="b" t="t" l="l"/>
            <a:pathLst>
              <a:path h="379798" w="213636">
                <a:moveTo>
                  <a:pt x="0" y="0"/>
                </a:moveTo>
                <a:lnTo>
                  <a:pt x="213636" y="0"/>
                </a:lnTo>
                <a:lnTo>
                  <a:pt x="213636" y="379798"/>
                </a:lnTo>
                <a:lnTo>
                  <a:pt x="0" y="3797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4198434" y="3093341"/>
            <a:ext cx="213636" cy="379798"/>
          </a:xfrm>
          <a:custGeom>
            <a:avLst/>
            <a:gdLst/>
            <a:ahLst/>
            <a:cxnLst/>
            <a:rect r="r" b="b" t="t" l="l"/>
            <a:pathLst>
              <a:path h="379798" w="213636">
                <a:moveTo>
                  <a:pt x="0" y="0"/>
                </a:moveTo>
                <a:lnTo>
                  <a:pt x="213636" y="0"/>
                </a:lnTo>
                <a:lnTo>
                  <a:pt x="213636" y="379798"/>
                </a:lnTo>
                <a:lnTo>
                  <a:pt x="0" y="3797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7071045" y="3093341"/>
            <a:ext cx="213636" cy="379798"/>
          </a:xfrm>
          <a:custGeom>
            <a:avLst/>
            <a:gdLst/>
            <a:ahLst/>
            <a:cxnLst/>
            <a:rect r="r" b="b" t="t" l="l"/>
            <a:pathLst>
              <a:path h="379798" w="213636">
                <a:moveTo>
                  <a:pt x="0" y="0"/>
                </a:moveTo>
                <a:lnTo>
                  <a:pt x="213637" y="0"/>
                </a:lnTo>
                <a:lnTo>
                  <a:pt x="213637" y="379798"/>
                </a:lnTo>
                <a:lnTo>
                  <a:pt x="0" y="3797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9943657" y="3093341"/>
            <a:ext cx="213636" cy="379798"/>
          </a:xfrm>
          <a:custGeom>
            <a:avLst/>
            <a:gdLst/>
            <a:ahLst/>
            <a:cxnLst/>
            <a:rect r="r" b="b" t="t" l="l"/>
            <a:pathLst>
              <a:path h="379798" w="213636">
                <a:moveTo>
                  <a:pt x="0" y="0"/>
                </a:moveTo>
                <a:lnTo>
                  <a:pt x="213636" y="0"/>
                </a:lnTo>
                <a:lnTo>
                  <a:pt x="213636" y="379798"/>
                </a:lnTo>
                <a:lnTo>
                  <a:pt x="0" y="3797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5400000">
            <a:off x="11002344" y="6583492"/>
            <a:ext cx="213636" cy="379798"/>
          </a:xfrm>
          <a:custGeom>
            <a:avLst/>
            <a:gdLst/>
            <a:ahLst/>
            <a:cxnLst/>
            <a:rect r="r" b="b" t="t" l="l"/>
            <a:pathLst>
              <a:path h="379798" w="213636">
                <a:moveTo>
                  <a:pt x="0" y="0"/>
                </a:moveTo>
                <a:lnTo>
                  <a:pt x="213637" y="0"/>
                </a:lnTo>
                <a:lnTo>
                  <a:pt x="213637" y="379798"/>
                </a:lnTo>
                <a:lnTo>
                  <a:pt x="0" y="3797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3494996" y="8216479"/>
            <a:ext cx="162051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EDC7B7"/>
                </a:solidFill>
                <a:latin typeface="Rubik"/>
                <a:ea typeface="Rubik"/>
                <a:cs typeface="Rubik"/>
                <a:sym typeface="Rubik"/>
              </a:rPr>
              <a:t>Visualisation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099708" y="5064207"/>
            <a:ext cx="12960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EDC7B7"/>
                </a:solidFill>
                <a:latin typeface="Rubik"/>
                <a:ea typeface="Rubik"/>
                <a:cs typeface="Rubik"/>
                <a:sym typeface="Rubik"/>
              </a:rPr>
              <a:t>Storage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965585" y="6896796"/>
            <a:ext cx="92858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EDC7B7"/>
                </a:solidFill>
                <a:latin typeface="Rubik"/>
                <a:ea typeface="Rubik"/>
                <a:cs typeface="Rubik"/>
                <a:sym typeface="Rubik"/>
              </a:rPr>
              <a:t>Alerts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5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14615" y="5143500"/>
            <a:ext cx="4010025" cy="2351629"/>
            <a:chOff x="0" y="0"/>
            <a:chExt cx="1371024" cy="804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024" cy="804020"/>
            </a:xfrm>
            <a:custGeom>
              <a:avLst/>
              <a:gdLst/>
              <a:ahLst/>
              <a:cxnLst/>
              <a:rect r="r" b="b" t="t" l="l"/>
              <a:pathLst>
                <a:path h="804020" w="1371024">
                  <a:moveTo>
                    <a:pt x="67572" y="0"/>
                  </a:moveTo>
                  <a:lnTo>
                    <a:pt x="1303451" y="0"/>
                  </a:lnTo>
                  <a:cubicBezTo>
                    <a:pt x="1321372" y="0"/>
                    <a:pt x="1338560" y="7119"/>
                    <a:pt x="1351232" y="19792"/>
                  </a:cubicBezTo>
                  <a:cubicBezTo>
                    <a:pt x="1363904" y="32464"/>
                    <a:pt x="1371024" y="49651"/>
                    <a:pt x="1371024" y="67572"/>
                  </a:cubicBezTo>
                  <a:lnTo>
                    <a:pt x="1371024" y="736447"/>
                  </a:lnTo>
                  <a:cubicBezTo>
                    <a:pt x="1371024" y="754368"/>
                    <a:pt x="1363904" y="771556"/>
                    <a:pt x="1351232" y="784228"/>
                  </a:cubicBezTo>
                  <a:cubicBezTo>
                    <a:pt x="1338560" y="796900"/>
                    <a:pt x="1321372" y="804020"/>
                    <a:pt x="1303451" y="804020"/>
                  </a:cubicBezTo>
                  <a:lnTo>
                    <a:pt x="67572" y="804020"/>
                  </a:lnTo>
                  <a:cubicBezTo>
                    <a:pt x="49651" y="804020"/>
                    <a:pt x="32464" y="796900"/>
                    <a:pt x="19792" y="784228"/>
                  </a:cubicBezTo>
                  <a:cubicBezTo>
                    <a:pt x="7119" y="771556"/>
                    <a:pt x="0" y="754368"/>
                    <a:pt x="0" y="736447"/>
                  </a:cubicBezTo>
                  <a:lnTo>
                    <a:pt x="0" y="67572"/>
                  </a:lnTo>
                  <a:cubicBezTo>
                    <a:pt x="0" y="49651"/>
                    <a:pt x="7119" y="32464"/>
                    <a:pt x="19792" y="19792"/>
                  </a:cubicBezTo>
                  <a:cubicBezTo>
                    <a:pt x="32464" y="7119"/>
                    <a:pt x="49651" y="0"/>
                    <a:pt x="67572" y="0"/>
                  </a:cubicBezTo>
                  <a:close/>
                </a:path>
              </a:pathLst>
            </a:custGeom>
            <a:blipFill>
              <a:blip r:embed="rId2"/>
              <a:stretch>
                <a:fillRect l="-337" t="0" r="-33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11225" y="667837"/>
            <a:ext cx="4010025" cy="2351629"/>
            <a:chOff x="0" y="0"/>
            <a:chExt cx="1371024" cy="804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024" cy="804020"/>
            </a:xfrm>
            <a:custGeom>
              <a:avLst/>
              <a:gdLst/>
              <a:ahLst/>
              <a:cxnLst/>
              <a:rect r="r" b="b" t="t" l="l"/>
              <a:pathLst>
                <a:path h="804020" w="1371024">
                  <a:moveTo>
                    <a:pt x="67572" y="0"/>
                  </a:moveTo>
                  <a:lnTo>
                    <a:pt x="1303451" y="0"/>
                  </a:lnTo>
                  <a:cubicBezTo>
                    <a:pt x="1321372" y="0"/>
                    <a:pt x="1338560" y="7119"/>
                    <a:pt x="1351232" y="19792"/>
                  </a:cubicBezTo>
                  <a:cubicBezTo>
                    <a:pt x="1363904" y="32464"/>
                    <a:pt x="1371024" y="49651"/>
                    <a:pt x="1371024" y="67572"/>
                  </a:cubicBezTo>
                  <a:lnTo>
                    <a:pt x="1371024" y="736447"/>
                  </a:lnTo>
                  <a:cubicBezTo>
                    <a:pt x="1371024" y="754368"/>
                    <a:pt x="1363904" y="771556"/>
                    <a:pt x="1351232" y="784228"/>
                  </a:cubicBezTo>
                  <a:cubicBezTo>
                    <a:pt x="1338560" y="796900"/>
                    <a:pt x="1321372" y="804020"/>
                    <a:pt x="1303451" y="804020"/>
                  </a:cubicBezTo>
                  <a:lnTo>
                    <a:pt x="67572" y="804020"/>
                  </a:lnTo>
                  <a:cubicBezTo>
                    <a:pt x="49651" y="804020"/>
                    <a:pt x="32464" y="796900"/>
                    <a:pt x="19792" y="784228"/>
                  </a:cubicBezTo>
                  <a:cubicBezTo>
                    <a:pt x="7119" y="771556"/>
                    <a:pt x="0" y="754368"/>
                    <a:pt x="0" y="736447"/>
                  </a:cubicBezTo>
                  <a:lnTo>
                    <a:pt x="0" y="67572"/>
                  </a:lnTo>
                  <a:cubicBezTo>
                    <a:pt x="0" y="49651"/>
                    <a:pt x="7119" y="32464"/>
                    <a:pt x="19792" y="19792"/>
                  </a:cubicBezTo>
                  <a:cubicBezTo>
                    <a:pt x="32464" y="7119"/>
                    <a:pt x="49651" y="0"/>
                    <a:pt x="67572" y="0"/>
                  </a:cubicBezTo>
                  <a:close/>
                </a:path>
              </a:pathLst>
            </a:custGeom>
            <a:blipFill>
              <a:blip r:embed="rId3"/>
              <a:stretch>
                <a:fillRect l="-337" t="0" r="-33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99790" y="5143500"/>
            <a:ext cx="4010025" cy="2351629"/>
            <a:chOff x="0" y="0"/>
            <a:chExt cx="1371024" cy="804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1024" cy="804020"/>
            </a:xfrm>
            <a:custGeom>
              <a:avLst/>
              <a:gdLst/>
              <a:ahLst/>
              <a:cxnLst/>
              <a:rect r="r" b="b" t="t" l="l"/>
              <a:pathLst>
                <a:path h="804020" w="1371024">
                  <a:moveTo>
                    <a:pt x="67572" y="0"/>
                  </a:moveTo>
                  <a:lnTo>
                    <a:pt x="1303451" y="0"/>
                  </a:lnTo>
                  <a:cubicBezTo>
                    <a:pt x="1321372" y="0"/>
                    <a:pt x="1338560" y="7119"/>
                    <a:pt x="1351232" y="19792"/>
                  </a:cubicBezTo>
                  <a:cubicBezTo>
                    <a:pt x="1363904" y="32464"/>
                    <a:pt x="1371024" y="49651"/>
                    <a:pt x="1371024" y="67572"/>
                  </a:cubicBezTo>
                  <a:lnTo>
                    <a:pt x="1371024" y="736447"/>
                  </a:lnTo>
                  <a:cubicBezTo>
                    <a:pt x="1371024" y="754368"/>
                    <a:pt x="1363904" y="771556"/>
                    <a:pt x="1351232" y="784228"/>
                  </a:cubicBezTo>
                  <a:cubicBezTo>
                    <a:pt x="1338560" y="796900"/>
                    <a:pt x="1321372" y="804020"/>
                    <a:pt x="1303451" y="804020"/>
                  </a:cubicBezTo>
                  <a:lnTo>
                    <a:pt x="67572" y="804020"/>
                  </a:lnTo>
                  <a:cubicBezTo>
                    <a:pt x="49651" y="804020"/>
                    <a:pt x="32464" y="796900"/>
                    <a:pt x="19792" y="784228"/>
                  </a:cubicBezTo>
                  <a:cubicBezTo>
                    <a:pt x="7119" y="771556"/>
                    <a:pt x="0" y="754368"/>
                    <a:pt x="0" y="736447"/>
                  </a:cubicBezTo>
                  <a:lnTo>
                    <a:pt x="0" y="67572"/>
                  </a:lnTo>
                  <a:cubicBezTo>
                    <a:pt x="0" y="49651"/>
                    <a:pt x="7119" y="32464"/>
                    <a:pt x="19792" y="19792"/>
                  </a:cubicBezTo>
                  <a:cubicBezTo>
                    <a:pt x="32464" y="7119"/>
                    <a:pt x="49651" y="0"/>
                    <a:pt x="6757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804" r="0" b="-680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667837"/>
            <a:ext cx="4010025" cy="2351629"/>
            <a:chOff x="0" y="0"/>
            <a:chExt cx="1371024" cy="8040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024" cy="804020"/>
            </a:xfrm>
            <a:custGeom>
              <a:avLst/>
              <a:gdLst/>
              <a:ahLst/>
              <a:cxnLst/>
              <a:rect r="r" b="b" t="t" l="l"/>
              <a:pathLst>
                <a:path h="804020" w="1371024">
                  <a:moveTo>
                    <a:pt x="67572" y="0"/>
                  </a:moveTo>
                  <a:lnTo>
                    <a:pt x="1303451" y="0"/>
                  </a:lnTo>
                  <a:cubicBezTo>
                    <a:pt x="1321372" y="0"/>
                    <a:pt x="1338560" y="7119"/>
                    <a:pt x="1351232" y="19792"/>
                  </a:cubicBezTo>
                  <a:cubicBezTo>
                    <a:pt x="1363904" y="32464"/>
                    <a:pt x="1371024" y="49651"/>
                    <a:pt x="1371024" y="67572"/>
                  </a:cubicBezTo>
                  <a:lnTo>
                    <a:pt x="1371024" y="736447"/>
                  </a:lnTo>
                  <a:cubicBezTo>
                    <a:pt x="1371024" y="754368"/>
                    <a:pt x="1363904" y="771556"/>
                    <a:pt x="1351232" y="784228"/>
                  </a:cubicBezTo>
                  <a:cubicBezTo>
                    <a:pt x="1338560" y="796900"/>
                    <a:pt x="1321372" y="804020"/>
                    <a:pt x="1303451" y="804020"/>
                  </a:cubicBezTo>
                  <a:lnTo>
                    <a:pt x="67572" y="804020"/>
                  </a:lnTo>
                  <a:cubicBezTo>
                    <a:pt x="49651" y="804020"/>
                    <a:pt x="32464" y="796900"/>
                    <a:pt x="19792" y="784228"/>
                  </a:cubicBezTo>
                  <a:cubicBezTo>
                    <a:pt x="7119" y="771556"/>
                    <a:pt x="0" y="754368"/>
                    <a:pt x="0" y="736447"/>
                  </a:cubicBezTo>
                  <a:lnTo>
                    <a:pt x="0" y="67572"/>
                  </a:lnTo>
                  <a:cubicBezTo>
                    <a:pt x="0" y="49651"/>
                    <a:pt x="7119" y="32464"/>
                    <a:pt x="19792" y="19792"/>
                  </a:cubicBezTo>
                  <a:cubicBezTo>
                    <a:pt x="32464" y="7119"/>
                    <a:pt x="49651" y="0"/>
                    <a:pt x="67572" y="0"/>
                  </a:cubicBezTo>
                  <a:close/>
                </a:path>
              </a:pathLst>
            </a:custGeom>
            <a:blipFill>
              <a:blip r:embed="rId5"/>
              <a:stretch>
                <a:fillRect l="-337" t="0" r="-33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666750" y="8724900"/>
            <a:ext cx="913622" cy="895350"/>
            <a:chOff x="0" y="0"/>
            <a:chExt cx="635000" cy="622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EDC7B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46050" y="92075"/>
              <a:ext cx="342900" cy="390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384965" y="5143500"/>
            <a:ext cx="4010025" cy="2351629"/>
            <a:chOff x="0" y="0"/>
            <a:chExt cx="1371024" cy="8040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1024" cy="804020"/>
            </a:xfrm>
            <a:custGeom>
              <a:avLst/>
              <a:gdLst/>
              <a:ahLst/>
              <a:cxnLst/>
              <a:rect r="r" b="b" t="t" l="l"/>
              <a:pathLst>
                <a:path h="804020" w="1371024">
                  <a:moveTo>
                    <a:pt x="67572" y="0"/>
                  </a:moveTo>
                  <a:lnTo>
                    <a:pt x="1303451" y="0"/>
                  </a:lnTo>
                  <a:cubicBezTo>
                    <a:pt x="1321372" y="0"/>
                    <a:pt x="1338560" y="7119"/>
                    <a:pt x="1351232" y="19792"/>
                  </a:cubicBezTo>
                  <a:cubicBezTo>
                    <a:pt x="1363904" y="32464"/>
                    <a:pt x="1371024" y="49651"/>
                    <a:pt x="1371024" y="67572"/>
                  </a:cubicBezTo>
                  <a:lnTo>
                    <a:pt x="1371024" y="736447"/>
                  </a:lnTo>
                  <a:cubicBezTo>
                    <a:pt x="1371024" y="754368"/>
                    <a:pt x="1363904" y="771556"/>
                    <a:pt x="1351232" y="784228"/>
                  </a:cubicBezTo>
                  <a:cubicBezTo>
                    <a:pt x="1338560" y="796900"/>
                    <a:pt x="1321372" y="804020"/>
                    <a:pt x="1303451" y="804020"/>
                  </a:cubicBezTo>
                  <a:lnTo>
                    <a:pt x="67572" y="804020"/>
                  </a:lnTo>
                  <a:cubicBezTo>
                    <a:pt x="49651" y="804020"/>
                    <a:pt x="32464" y="796900"/>
                    <a:pt x="19792" y="784228"/>
                  </a:cubicBezTo>
                  <a:cubicBezTo>
                    <a:pt x="7119" y="771556"/>
                    <a:pt x="0" y="754368"/>
                    <a:pt x="0" y="736447"/>
                  </a:cubicBezTo>
                  <a:lnTo>
                    <a:pt x="0" y="67572"/>
                  </a:lnTo>
                  <a:cubicBezTo>
                    <a:pt x="0" y="49651"/>
                    <a:pt x="7119" y="32464"/>
                    <a:pt x="19792" y="19792"/>
                  </a:cubicBezTo>
                  <a:cubicBezTo>
                    <a:pt x="32464" y="7119"/>
                    <a:pt x="49651" y="0"/>
                    <a:pt x="67572" y="0"/>
                  </a:cubicBezTo>
                  <a:close/>
                </a:path>
              </a:pathLst>
            </a:custGeom>
            <a:blipFill>
              <a:blip r:embed="rId6"/>
              <a:stretch>
                <a:fillRect l="-3801" t="0" r="-380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981575" y="667837"/>
            <a:ext cx="4010025" cy="2351629"/>
            <a:chOff x="0" y="0"/>
            <a:chExt cx="1371024" cy="8040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1024" cy="804020"/>
            </a:xfrm>
            <a:custGeom>
              <a:avLst/>
              <a:gdLst/>
              <a:ahLst/>
              <a:cxnLst/>
              <a:rect r="r" b="b" t="t" l="l"/>
              <a:pathLst>
                <a:path h="804020" w="1371024">
                  <a:moveTo>
                    <a:pt x="67572" y="0"/>
                  </a:moveTo>
                  <a:lnTo>
                    <a:pt x="1303451" y="0"/>
                  </a:lnTo>
                  <a:cubicBezTo>
                    <a:pt x="1321372" y="0"/>
                    <a:pt x="1338560" y="7119"/>
                    <a:pt x="1351232" y="19792"/>
                  </a:cubicBezTo>
                  <a:cubicBezTo>
                    <a:pt x="1363904" y="32464"/>
                    <a:pt x="1371024" y="49651"/>
                    <a:pt x="1371024" y="67572"/>
                  </a:cubicBezTo>
                  <a:lnTo>
                    <a:pt x="1371024" y="736447"/>
                  </a:lnTo>
                  <a:cubicBezTo>
                    <a:pt x="1371024" y="754368"/>
                    <a:pt x="1363904" y="771556"/>
                    <a:pt x="1351232" y="784228"/>
                  </a:cubicBezTo>
                  <a:cubicBezTo>
                    <a:pt x="1338560" y="796900"/>
                    <a:pt x="1321372" y="804020"/>
                    <a:pt x="1303451" y="804020"/>
                  </a:cubicBezTo>
                  <a:lnTo>
                    <a:pt x="67572" y="804020"/>
                  </a:lnTo>
                  <a:cubicBezTo>
                    <a:pt x="49651" y="804020"/>
                    <a:pt x="32464" y="796900"/>
                    <a:pt x="19792" y="784228"/>
                  </a:cubicBezTo>
                  <a:cubicBezTo>
                    <a:pt x="7119" y="771556"/>
                    <a:pt x="0" y="754368"/>
                    <a:pt x="0" y="736447"/>
                  </a:cubicBezTo>
                  <a:lnTo>
                    <a:pt x="0" y="67572"/>
                  </a:lnTo>
                  <a:cubicBezTo>
                    <a:pt x="0" y="49651"/>
                    <a:pt x="7119" y="32464"/>
                    <a:pt x="19792" y="19792"/>
                  </a:cubicBezTo>
                  <a:cubicBezTo>
                    <a:pt x="32464" y="7119"/>
                    <a:pt x="49651" y="0"/>
                    <a:pt x="67572" y="0"/>
                  </a:cubicBezTo>
                  <a:close/>
                </a:path>
              </a:pathLst>
            </a:custGeom>
            <a:blipFill>
              <a:blip r:embed="rId7"/>
              <a:stretch>
                <a:fillRect l="-337" t="0" r="-337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4676775" y="412969"/>
            <a:ext cx="923244" cy="931714"/>
          </a:xfrm>
          <a:custGeom>
            <a:avLst/>
            <a:gdLst/>
            <a:ahLst/>
            <a:cxnLst/>
            <a:rect r="r" b="b" t="t" l="l"/>
            <a:pathLst>
              <a:path h="931714" w="923244">
                <a:moveTo>
                  <a:pt x="0" y="0"/>
                </a:moveTo>
                <a:lnTo>
                  <a:pt x="923244" y="0"/>
                </a:lnTo>
                <a:lnTo>
                  <a:pt x="923244" y="931714"/>
                </a:lnTo>
                <a:lnTo>
                  <a:pt x="0" y="9317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4000" y="409537"/>
            <a:ext cx="923244" cy="935146"/>
          </a:xfrm>
          <a:custGeom>
            <a:avLst/>
            <a:gdLst/>
            <a:ahLst/>
            <a:cxnLst/>
            <a:rect r="r" b="b" t="t" l="l"/>
            <a:pathLst>
              <a:path h="935146" w="923244">
                <a:moveTo>
                  <a:pt x="0" y="0"/>
                </a:moveTo>
                <a:lnTo>
                  <a:pt x="923244" y="0"/>
                </a:lnTo>
                <a:lnTo>
                  <a:pt x="923244" y="935146"/>
                </a:lnTo>
                <a:lnTo>
                  <a:pt x="0" y="9351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458825" y="464149"/>
            <a:ext cx="923244" cy="938603"/>
          </a:xfrm>
          <a:custGeom>
            <a:avLst/>
            <a:gdLst/>
            <a:ahLst/>
            <a:cxnLst/>
            <a:rect r="r" b="b" t="t" l="l"/>
            <a:pathLst>
              <a:path h="938603" w="923244">
                <a:moveTo>
                  <a:pt x="0" y="0"/>
                </a:moveTo>
                <a:lnTo>
                  <a:pt x="923244" y="0"/>
                </a:lnTo>
                <a:lnTo>
                  <a:pt x="923244" y="938602"/>
                </a:lnTo>
                <a:lnTo>
                  <a:pt x="0" y="9386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072678" y="4806625"/>
            <a:ext cx="923244" cy="958083"/>
          </a:xfrm>
          <a:custGeom>
            <a:avLst/>
            <a:gdLst/>
            <a:ahLst/>
            <a:cxnLst/>
            <a:rect r="r" b="b" t="t" l="l"/>
            <a:pathLst>
              <a:path h="958083" w="923244">
                <a:moveTo>
                  <a:pt x="0" y="0"/>
                </a:moveTo>
                <a:lnTo>
                  <a:pt x="923244" y="0"/>
                </a:lnTo>
                <a:lnTo>
                  <a:pt x="923244" y="958083"/>
                </a:lnTo>
                <a:lnTo>
                  <a:pt x="0" y="95808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524966" y="4806625"/>
            <a:ext cx="923244" cy="967208"/>
          </a:xfrm>
          <a:custGeom>
            <a:avLst/>
            <a:gdLst/>
            <a:ahLst/>
            <a:cxnLst/>
            <a:rect r="r" b="b" t="t" l="l"/>
            <a:pathLst>
              <a:path h="967208" w="923244">
                <a:moveTo>
                  <a:pt x="0" y="0"/>
                </a:moveTo>
                <a:lnTo>
                  <a:pt x="923243" y="0"/>
                </a:lnTo>
                <a:lnTo>
                  <a:pt x="923243" y="967208"/>
                </a:lnTo>
                <a:lnTo>
                  <a:pt x="0" y="9672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843165" y="4903587"/>
            <a:ext cx="915900" cy="1040795"/>
          </a:xfrm>
          <a:custGeom>
            <a:avLst/>
            <a:gdLst/>
            <a:ahLst/>
            <a:cxnLst/>
            <a:rect r="r" b="b" t="t" l="l"/>
            <a:pathLst>
              <a:path h="1040795" w="915900">
                <a:moveTo>
                  <a:pt x="0" y="0"/>
                </a:moveTo>
                <a:lnTo>
                  <a:pt x="915899" y="0"/>
                </a:lnTo>
                <a:lnTo>
                  <a:pt x="915899" y="1040795"/>
                </a:lnTo>
                <a:lnTo>
                  <a:pt x="0" y="104079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91826" y="572587"/>
            <a:ext cx="4284949" cy="311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68"/>
              </a:lnSpc>
              <a:spcBef>
                <a:spcPct val="0"/>
              </a:spcBef>
            </a:pPr>
            <a:r>
              <a:rPr lang="en-US" b="true" sz="4973" strike="noStrike" u="none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Technologies Used in Cloud Log Monitoring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96400" y="3295691"/>
            <a:ext cx="4010025" cy="83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8"/>
              </a:lnSpc>
            </a:pPr>
            <a:r>
              <a:rPr lang="en-US" b="true" sz="237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API PUBLISHES LOGS TO PUB/SUB 'L</a:t>
            </a:r>
            <a:r>
              <a:rPr lang="en-US" b="true" sz="237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OGS-TOPIC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99790" y="7771354"/>
            <a:ext cx="4010025" cy="83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8"/>
              </a:lnSpc>
            </a:pPr>
            <a:r>
              <a:rPr lang="en-US" b="true" sz="237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DASHBOARD QUERIES FIRESTORE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11225" y="3326184"/>
            <a:ext cx="4010025" cy="83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8"/>
              </a:lnSpc>
            </a:pPr>
            <a:r>
              <a:rPr lang="en-US" b="true" sz="237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CLOUD FUN</a:t>
            </a:r>
            <a:r>
              <a:rPr lang="en-US" b="true" sz="237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CTION PROCESSES LOG EVENTS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14615" y="7771354"/>
            <a:ext cx="6764006" cy="125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8"/>
              </a:lnSpc>
            </a:pPr>
            <a:r>
              <a:rPr lang="en-US" b="true" sz="237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GMAIL SMTP ALERTS FOR ERR</a:t>
            </a:r>
            <a:r>
              <a:rPr lang="en-US" b="true" sz="237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OR/CRITICAL VIA CLOUD FUNCTION — MINIMAL ICONS, VERTICAL FLOW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81575" y="3295691"/>
            <a:ext cx="4010025" cy="83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8"/>
              </a:lnSpc>
            </a:pPr>
            <a:r>
              <a:rPr lang="en-US" b="true" sz="237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CLIE</a:t>
            </a:r>
            <a:r>
              <a:rPr lang="en-US" b="true" sz="237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NTS POST LOGS TO CLOUD RUN API (API.PY)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84965" y="7771354"/>
            <a:ext cx="4010025" cy="83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8"/>
              </a:lnSpc>
            </a:pPr>
            <a:r>
              <a:rPr lang="en-US" b="true" sz="237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L</a:t>
            </a:r>
            <a:r>
              <a:rPr lang="en-US" b="true" sz="2370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OGS STORED IN FIRESTORE NOSQL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2C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A8F9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EDC7B7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05025" y="1428750"/>
            <a:ext cx="1263967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6600">
                <a:solidFill>
                  <a:srgbClr val="0D3B66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Tech Stack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05025" y="4248157"/>
            <a:ext cx="4010025" cy="1428750"/>
            <a:chOff x="0" y="0"/>
            <a:chExt cx="5346700" cy="19050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11530"/>
              <a:ext cx="5346700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HTM</a:t>
              </a: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L, CSS, JavaScript</a:t>
              </a:r>
            </a:p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Chart.js for visualization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D3B66"/>
                  </a:solidFill>
                  <a:latin typeface="Rubik Bold"/>
                  <a:ea typeface="Rubik Bold"/>
                  <a:cs typeface="Rubik Bold"/>
                  <a:sym typeface="Rubik Bold"/>
                </a:rPr>
                <a:t>FR</a:t>
              </a:r>
              <a:r>
                <a:rPr lang="en-US" b="true" sz="2400">
                  <a:solidFill>
                    <a:srgbClr val="0D3B66"/>
                  </a:solidFill>
                  <a:latin typeface="Rubik Bold"/>
                  <a:ea typeface="Rubik Bold"/>
                  <a:cs typeface="Rubik Bold"/>
                  <a:sym typeface="Rubik Bold"/>
                </a:rPr>
                <a:t>ONTEND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5025" y="6934186"/>
            <a:ext cx="5367344" cy="1847850"/>
            <a:chOff x="0" y="0"/>
            <a:chExt cx="7156459" cy="24638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11530"/>
              <a:ext cx="7156459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Gmail SMTP</a:t>
              </a: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 alerts</a:t>
              </a:r>
            </a:p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GitHub for version control</a:t>
              </a:r>
            </a:p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Use a multi-column icon layout.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7156459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D3B66"/>
                  </a:solidFill>
                  <a:latin typeface="Rubik Bold"/>
                  <a:ea typeface="Rubik Bold"/>
                  <a:cs typeface="Rubik Bold"/>
                  <a:sym typeface="Rubik Bold"/>
                </a:rPr>
                <a:t>O</a:t>
              </a:r>
              <a:r>
                <a:rPr lang="en-US" b="true" sz="2400">
                  <a:solidFill>
                    <a:srgbClr val="0D3B66"/>
                  </a:solidFill>
                  <a:latin typeface="Rubik Bold"/>
                  <a:ea typeface="Rubik Bold"/>
                  <a:cs typeface="Rubik Bold"/>
                  <a:sym typeface="Rubik Bold"/>
                </a:rPr>
                <a:t>THER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477750" y="4248157"/>
            <a:ext cx="4010025" cy="1847850"/>
            <a:chOff x="0" y="0"/>
            <a:chExt cx="5346700" cy="24638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811530"/>
              <a:ext cx="5346700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C</a:t>
              </a: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loud Logging</a:t>
              </a:r>
            </a:p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Pub/Sub</a:t>
              </a:r>
            </a:p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Cloud Functions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D3B66"/>
                  </a:solidFill>
                  <a:latin typeface="Rubik Bold"/>
                  <a:ea typeface="Rubik Bold"/>
                  <a:cs typeface="Rubik Bold"/>
                  <a:sym typeface="Rubik Bold"/>
                </a:rPr>
                <a:t>GOOG</a:t>
              </a:r>
              <a:r>
                <a:rPr lang="en-US" b="true" sz="2400">
                  <a:solidFill>
                    <a:srgbClr val="0D3B66"/>
                  </a:solidFill>
                  <a:latin typeface="Rubik Bold"/>
                  <a:ea typeface="Rubik Bold"/>
                  <a:cs typeface="Rubik Bold"/>
                  <a:sym typeface="Rubik Bold"/>
                </a:rPr>
                <a:t>LE CLOUD SERVICES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91388" y="4248157"/>
            <a:ext cx="4462465" cy="1428750"/>
            <a:chOff x="0" y="0"/>
            <a:chExt cx="5949953" cy="190500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811530"/>
              <a:ext cx="5949953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Py</a:t>
              </a: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thon 3.10, Flask, Flask-CORS</a:t>
              </a:r>
            </a:p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0D3B66"/>
                  </a:solidFill>
                  <a:latin typeface="Rubik"/>
                  <a:ea typeface="Rubik"/>
                  <a:cs typeface="Rubik"/>
                  <a:sym typeface="Rubik"/>
                </a:rPr>
                <a:t>Docker, Cloud Run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57150"/>
              <a:ext cx="53467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>
                  <a:solidFill>
                    <a:srgbClr val="0D3B66"/>
                  </a:solidFill>
                  <a:latin typeface="Rubik Bold"/>
                  <a:ea typeface="Rubik Bold"/>
                  <a:cs typeface="Rubik Bold"/>
                  <a:sym typeface="Rubik Bold"/>
                </a:rPr>
                <a:t>B</a:t>
              </a:r>
              <a:r>
                <a:rPr lang="en-US" b="true" sz="2400">
                  <a:solidFill>
                    <a:srgbClr val="0D3B66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ACKEND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-10800000">
            <a:off x="15269353" y="1562100"/>
            <a:ext cx="913622" cy="895350"/>
            <a:chOff x="0" y="0"/>
            <a:chExt cx="635000" cy="622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0D3B6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000020" y="4842517"/>
            <a:ext cx="2259280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2400">
                <a:solidFill>
                  <a:srgbClr val="0D3B66"/>
                </a:solidFill>
                <a:latin typeface="Rubik"/>
                <a:ea typeface="Rubik"/>
                <a:cs typeface="Rubik"/>
                <a:sym typeface="Rubik"/>
              </a:rPr>
              <a:t>Firestore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400">
                <a:solidFill>
                  <a:srgbClr val="0D3B66"/>
                </a:solidFill>
                <a:latin typeface="Rubik"/>
                <a:ea typeface="Rubik"/>
                <a:cs typeface="Rubik"/>
                <a:sym typeface="Rubik"/>
              </a:rPr>
              <a:t>Cloud Storage</a:t>
            </a:r>
          </a:p>
          <a:p>
            <a:pPr algn="l" marL="0" indent="0" lvl="0">
              <a:lnSpc>
                <a:spcPts val="3359"/>
              </a:lnSpc>
            </a:pPr>
            <a:r>
              <a:rPr lang="en-US" sz="2400">
                <a:solidFill>
                  <a:srgbClr val="0D3B66"/>
                </a:solidFill>
                <a:latin typeface="Rubik"/>
                <a:ea typeface="Rubik"/>
                <a:cs typeface="Rubik"/>
                <a:sym typeface="Rubik"/>
              </a:rPr>
              <a:t>IAM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5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2215603"/>
            <a:ext cx="6884747" cy="7404647"/>
            <a:chOff x="0" y="0"/>
            <a:chExt cx="1066627" cy="1147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6627" cy="1147174"/>
            </a:xfrm>
            <a:custGeom>
              <a:avLst/>
              <a:gdLst/>
              <a:ahLst/>
              <a:cxnLst/>
              <a:rect r="r" b="b" t="t" l="l"/>
              <a:pathLst>
                <a:path h="1147174" w="1066627">
                  <a:moveTo>
                    <a:pt x="78715" y="0"/>
                  </a:moveTo>
                  <a:lnTo>
                    <a:pt x="987912" y="0"/>
                  </a:lnTo>
                  <a:cubicBezTo>
                    <a:pt x="1031385" y="0"/>
                    <a:pt x="1066627" y="35242"/>
                    <a:pt x="1066627" y="78715"/>
                  </a:cubicBezTo>
                  <a:lnTo>
                    <a:pt x="1066627" y="1068458"/>
                  </a:lnTo>
                  <a:cubicBezTo>
                    <a:pt x="1066627" y="1111932"/>
                    <a:pt x="1031385" y="1147174"/>
                    <a:pt x="987912" y="1147174"/>
                  </a:cubicBezTo>
                  <a:lnTo>
                    <a:pt x="78715" y="1147174"/>
                  </a:lnTo>
                  <a:cubicBezTo>
                    <a:pt x="35242" y="1147174"/>
                    <a:pt x="0" y="1111932"/>
                    <a:pt x="0" y="1068458"/>
                  </a:cubicBezTo>
                  <a:lnTo>
                    <a:pt x="0" y="78715"/>
                  </a:lnTo>
                  <a:cubicBezTo>
                    <a:pt x="0" y="35242"/>
                    <a:pt x="35242" y="0"/>
                    <a:pt x="7871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533400"/>
            <a:ext cx="15516225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K</a:t>
            </a:r>
            <a:r>
              <a:rPr lang="en-US" b="true" sz="6600" strike="noStrike" u="none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e</a:t>
            </a:r>
            <a:r>
              <a:rPr lang="en-US" b="true" sz="6600" strike="noStrike" u="none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y</a:t>
            </a:r>
            <a:r>
              <a:rPr lang="en-US" b="true" sz="6600" strike="noStrike" u="none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 F</a:t>
            </a:r>
            <a:r>
              <a:rPr lang="en-US" b="true" sz="6600" strike="noStrike" u="none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eatur</a:t>
            </a:r>
            <a:r>
              <a:rPr lang="en-US" b="true" sz="6600" strike="noStrike" u="none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es </a:t>
            </a:r>
            <a:r>
              <a:rPr lang="en-US" b="true" sz="6600" strike="noStrike" u="none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Implem</a:t>
            </a:r>
            <a:r>
              <a:rPr lang="en-US" b="true" sz="6600" strike="noStrike" u="none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e</a:t>
            </a:r>
            <a:r>
              <a:rPr lang="en-US" b="true" sz="6600" strike="noStrike" u="none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nt</a:t>
            </a:r>
            <a:r>
              <a:rPr lang="en-US" b="true" sz="6600" strike="noStrike" u="none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e</a:t>
            </a:r>
            <a:r>
              <a:rPr lang="en-US" b="true" sz="6600" strike="noStrike" u="none">
                <a:solidFill>
                  <a:srgbClr val="EDC7B7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d</a:t>
            </a:r>
          </a:p>
        </p:txBody>
      </p:sp>
      <p:grpSp>
        <p:nvGrpSpPr>
          <p:cNvPr name="Group 5" id="5"/>
          <p:cNvGrpSpPr/>
          <p:nvPr/>
        </p:nvGrpSpPr>
        <p:grpSpPr>
          <a:xfrm rot="-10800000">
            <a:off x="16707628" y="666750"/>
            <a:ext cx="913622" cy="895350"/>
            <a:chOff x="0" y="0"/>
            <a:chExt cx="635000" cy="622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" cy="622300"/>
            </a:xfrm>
            <a:custGeom>
              <a:avLst/>
              <a:gdLst/>
              <a:ahLst/>
              <a:cxnLst/>
              <a:rect r="r" b="b" t="t" l="l"/>
              <a:pathLst>
                <a:path h="622300" w="6350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0D3B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2148928"/>
            <a:ext cx="9595814" cy="637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303" indent="-353651" lvl="1">
              <a:lnSpc>
                <a:spcPts val="4586"/>
              </a:lnSpc>
              <a:buAutoNum type="arabicPeriod" startAt="1"/>
            </a:pPr>
            <a:r>
              <a:rPr lang="en-US" b="true" sz="3276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Real-time log col</a:t>
            </a:r>
            <a:r>
              <a:rPr lang="en-US" b="true" sz="3276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lection</a:t>
            </a:r>
          </a:p>
          <a:p>
            <a:pPr algn="l" marL="707303" indent="-353651" lvl="1">
              <a:lnSpc>
                <a:spcPts val="4586"/>
              </a:lnSpc>
              <a:buAutoNum type="arabicPeriod" startAt="1"/>
            </a:pPr>
            <a:r>
              <a:rPr lang="en-US" b="true" sz="3276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Pub/Sub event-driven streaming</a:t>
            </a:r>
          </a:p>
          <a:p>
            <a:pPr algn="l" marL="707303" indent="-353651" lvl="1">
              <a:lnSpc>
                <a:spcPts val="4586"/>
              </a:lnSpc>
              <a:buAutoNum type="arabicPeriod" startAt="1"/>
            </a:pPr>
            <a:r>
              <a:rPr lang="en-US" b="true" sz="3276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Serverless Cloud Function processing</a:t>
            </a:r>
          </a:p>
          <a:p>
            <a:pPr algn="l" marL="707303" indent="-353651" lvl="1">
              <a:lnSpc>
                <a:spcPts val="4586"/>
              </a:lnSpc>
              <a:buAutoNum type="arabicPeriod" startAt="1"/>
            </a:pPr>
            <a:r>
              <a:rPr lang="en-US" b="true" sz="3276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Firestore NoSQL persistent storage</a:t>
            </a:r>
          </a:p>
          <a:p>
            <a:pPr algn="l" marL="707303" indent="-353651" lvl="1">
              <a:lnSpc>
                <a:spcPts val="4586"/>
              </a:lnSpc>
              <a:buAutoNum type="arabicPeriod" startAt="1"/>
            </a:pPr>
            <a:r>
              <a:rPr lang="en-US" b="true" sz="3276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Interactive dashboard with auto-refresh</a:t>
            </a:r>
          </a:p>
          <a:p>
            <a:pPr algn="l" marL="707303" indent="-353651" lvl="1">
              <a:lnSpc>
                <a:spcPts val="4586"/>
              </a:lnSpc>
              <a:buAutoNum type="arabicPeriod" startAt="1"/>
            </a:pPr>
            <a:r>
              <a:rPr lang="en-US" b="true" sz="3276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Chart.js visualizations</a:t>
            </a:r>
          </a:p>
          <a:p>
            <a:pPr algn="l" marL="707303" indent="-353651" lvl="1">
              <a:lnSpc>
                <a:spcPts val="4586"/>
              </a:lnSpc>
              <a:buAutoNum type="arabicPeriod" startAt="1"/>
            </a:pPr>
            <a:r>
              <a:rPr lang="en-US" b="true" sz="3276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RESTful API (POST /api/logs, GET /api/logs, GET /api/stats)</a:t>
            </a:r>
          </a:p>
          <a:p>
            <a:pPr algn="l" marL="707303" indent="-353651" lvl="1">
              <a:lnSpc>
                <a:spcPts val="4586"/>
              </a:lnSpc>
              <a:buAutoNum type="arabicPeriod" startAt="1"/>
            </a:pPr>
            <a:r>
              <a:rPr lang="en-US" b="true" sz="3276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Automated email alerts for ERROR logs</a:t>
            </a:r>
          </a:p>
          <a:p>
            <a:pPr algn="l" marL="707303" indent="-353651" lvl="1">
              <a:lnSpc>
                <a:spcPts val="4586"/>
              </a:lnSpc>
              <a:buAutoNum type="arabicPeriod" startAt="1"/>
            </a:pPr>
            <a:r>
              <a:rPr lang="en-US" b="true" sz="3276">
                <a:solidFill>
                  <a:srgbClr val="EDC7B7"/>
                </a:solidFill>
                <a:latin typeface="Rubik Bold"/>
                <a:ea typeface="Rubik Bold"/>
                <a:cs typeface="Rubik Bold"/>
                <a:sym typeface="Rubik Bold"/>
              </a:rPr>
              <a:t>Production deployment using Cloud Run + Cloud Storage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A2C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934200"/>
            <a:ext cx="18288000" cy="3352800"/>
            <a:chOff x="0" y="0"/>
            <a:chExt cx="4816593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83042"/>
            </a:xfrm>
            <a:custGeom>
              <a:avLst/>
              <a:gdLst/>
              <a:ahLst/>
              <a:cxnLst/>
              <a:rect r="r" b="b" t="t" l="l"/>
              <a:pathLst>
                <a:path h="88304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A8F9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EDC7B7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3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91593" y="3986213"/>
            <a:ext cx="9304813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661"/>
              </a:lnSpc>
            </a:pPr>
            <a:r>
              <a:rPr lang="en-US" sz="12218">
                <a:solidFill>
                  <a:srgbClr val="0D3B66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Cloud Log Monitoring System</dc:description>
  <dc:identifier>DAG6bvpm4uA</dc:identifier>
  <dcterms:modified xsi:type="dcterms:W3CDTF">2011-08-01T06:04:30Z</dcterms:modified>
  <cp:revision>1</cp:revision>
  <dc:title>Cloud Log Monitoring System</dc:title>
</cp:coreProperties>
</file>